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914400"/>
            <a:ext cx="5486400" cy="5486400"/>
          </a:xfrm>
          <a:prstGeom prst="ellipse">
            <a:avLst/>
          </a:prstGeom>
          <a:solidFill>
            <a:srgbClr val="60A5FA">
              <a:alpha val="10000"/>
            </a:srgbClr>
          </a:solidFill>
          <a:ln w="12700">
            <a:solidFill>
              <a:srgbClr val="60A5F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274320"/>
            <a:ext cx="3657600" cy="3657600"/>
          </a:xfrm>
          <a:prstGeom prst="ellipse">
            <a:avLst/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NEBULA</a:t>
            </a:r>
            <a:pPr algn="l" indent="0" marL="0">
              <a:buNone/>
            </a:pPr>
            <a:r>
              <a:rPr lang="en-US" sz="7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Semántico de Inteligencia Artificial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3840480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99232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Habilitación Profesional 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 ·  Universidad de Belgrano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Joaquin Fernandez Gamboa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Producto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0" y="6400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029200" cy="388620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3886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05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Nebula.ai?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4173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Nebula es un 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de IA auto-hosteado</a:t>
            </a:r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reduce el gasto en modelos LLM premium sin perder control operacional.
</a:t>
            </a:r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posiciona entre las aplicaciones y los providers de LLM, tomando decisiones de routing en tiempo real:
</a:t>
            </a:r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simple o repetido</a:t>
            </a:r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modelo local o caché semántica
</a:t>
            </a:r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complejo o crítico</a:t>
            </a:r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proveedor premium
</a:t>
            </a:r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queda registrada y es visible para los operadores a través del panel de control y el ledger de uso.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914400"/>
            <a:ext cx="3108960" cy="1143000"/>
          </a:xfrm>
          <a:prstGeom prst="rect">
            <a:avLst/>
          </a:prstGeom>
          <a:solidFill>
            <a:srgbClr val="1A305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914400"/>
            <a:ext cx="54864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9875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870448" y="1572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estimada en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premium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0" y="2171700"/>
            <a:ext cx="3108960" cy="1143000"/>
          </a:xfrm>
          <a:prstGeom prst="rect">
            <a:avLst/>
          </a:prstGeom>
          <a:solidFill>
            <a:srgbClr val="1A305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2171700"/>
            <a:ext cx="54864" cy="11430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22448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~27ms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870448" y="28300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promedio en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 hit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0" y="3429000"/>
            <a:ext cx="3108960" cy="1143000"/>
          </a:xfrm>
          <a:prstGeom prst="rect">
            <a:avLst/>
          </a:prstGeom>
          <a:solidFill>
            <a:srgbClr val="1A305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3429000"/>
            <a:ext cx="54864" cy="1143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35021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870448" y="40873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aprobados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benchmark repo-nativo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0" y="6400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2651760" cy="192024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14400"/>
            <a:ext cx="54864" cy="19202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9784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Inteligente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1298448"/>
            <a:ext cx="2450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 cada request según complejidad: local → caché → premium → fallback. Configurable por tenant y política de gobierno.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192024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54864" cy="19202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9784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Semántica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28416" y="1298448"/>
            <a:ext cx="2450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 respuestas de requests similares via embeddings vectoriales (Qdrant). Latencia ~27ms en cache hit vs. cientos de ms en premium.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16752" y="914400"/>
            <a:ext cx="2651760" cy="192024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16752" y="914400"/>
            <a:ext cx="54864" cy="1920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9784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Multi-Tenant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44768" y="1298448"/>
            <a:ext cx="2450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por tenant: límites de costo, modelos permitidos, modo de routing y comportamiento de fallback. Persistidas en PostgreSQL.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999232"/>
            <a:ext cx="2651760" cy="192024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999232"/>
            <a:ext cx="54864" cy="1920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06324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Control (Console)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" y="3383280"/>
            <a:ext cx="2450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en Next.js 15 para operadores: Playground de prueba, Observabilidad, Editor de Políticas, gestión de Tenants y API Keys.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999232"/>
            <a:ext cx="2651760" cy="192024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99232"/>
            <a:ext cx="54864" cy="19202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306324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Total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28416" y="3383280"/>
            <a:ext cx="2450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Prometheus en /metrics. Health endpoints (/health, /health/ready). Ledger de uso persistido. Historial de decisiones de routing.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16752" y="2999232"/>
            <a:ext cx="2651760" cy="192024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16752" y="2999232"/>
            <a:ext cx="54864" cy="19202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06324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Hosteado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44768" y="3383280"/>
            <a:ext cx="2450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control opcional para visibilidad de flota y onboarding de pilotos. Solo metadata — sin prompts, respuestas ni credenciales.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del Producto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0" y="6400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196596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19659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978408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Costos en AI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3776" y="1298448"/>
            <a:ext cx="3913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con alto volumen de requests LLM pueden ahorrar hasta un 33% en costos de providers premium usando routing automático y caché semántica. Sin cambios en el código cliente.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196596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54864" cy="1965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978408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Operacional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91456" y="1298448"/>
            <a:ext cx="3913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que necesitan visibilidad total: qué modelo responde, qué ruta se tomó, qué costo se incurrió. Audit trail completo con ledger persistido.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4114800" cy="196596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44952"/>
            <a:ext cx="54864" cy="1965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310896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y Fallback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" y="3429000"/>
            <a:ext cx="3913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producción que no toleran downtime. Nebula hace fallback automático a premium cuando el modelo local falla, con metadata explícita en headers X-Nebula-*.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44952"/>
            <a:ext cx="4114800" cy="196596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44952"/>
            <a:ext cx="54864" cy="1965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310896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Pilotos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91456" y="3429000"/>
            <a:ext cx="3913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y scale-ups evaluando un gateway auto-hosteado. Reviewers académicos o técnicos pueden inspeccionar arquitectura, deployment y benchmarks desde el repo.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Desarrollo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0" y="6400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73152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7632" y="2130552"/>
            <a:ext cx="402336" cy="40233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34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2026-03-17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1–5  ·  15 planes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inteligente, caché semántica,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multi-tenant, console, benchmarks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70832" y="2130552"/>
            <a:ext cx="402336" cy="402336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234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6–10  ·  14 planes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20440" y="3200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control plane, enrollment, heartbeat,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trail, remote management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14032" y="2130552"/>
            <a:ext cx="402336" cy="40233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234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M001–M003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63640" y="3200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 embeddings, docs de adopción,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proof, integrated adoption proof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1993392" cy="1207008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49040"/>
            <a:ext cx="54864" cy="1207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81304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 por Milestones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" y="4133088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tiene fases y planes numerados con objetivos y artefactos verificables.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87168" y="3749040"/>
            <a:ext cx="1993392" cy="1207008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87168" y="3749040"/>
            <a:ext cx="54864" cy="120700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381304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(TDD)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15184" y="4133088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pytest-asyncio + Vitest. 13 módulos de test. StubProvider y FakeCacheService para aislamiento.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08576" y="3749040"/>
            <a:ext cx="1993392" cy="1207008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08576" y="3749040"/>
            <a:ext cx="54864" cy="1207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81304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36592" y="4133088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feat, docs, chore, test. Historial legible y changelog autogenereable.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29984" y="3749040"/>
            <a:ext cx="1993392" cy="1207008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29984" y="3749040"/>
            <a:ext cx="54864" cy="1207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381304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Stack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58000" y="4133088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+ Console + PostgreSQL + Qdrant levantados con un solo comando.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Propuesta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0" y="6400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REQUEST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337560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89320" y="914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468880" cy="685800"/>
          </a:xfrm>
          <a:prstGeom prst="rect">
            <a:avLst/>
          </a:prstGeom>
          <a:solidFill>
            <a:srgbClr val="162A46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710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/v1/chat/completions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X-Nebula-API-Key auth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600200" y="1920240"/>
            <a:ext cx="0" cy="32004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40280"/>
            <a:ext cx="2468880" cy="685800"/>
          </a:xfrm>
          <a:prstGeom prst="rect">
            <a:avLst/>
          </a:prstGeom>
          <a:solidFill>
            <a:srgbClr val="162A46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76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 ·  FastAPI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5877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Policy Check · Routing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600200" y="2926080"/>
            <a:ext cx="0" cy="32004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46120"/>
            <a:ext cx="2468880" cy="685800"/>
          </a:xfrm>
          <a:prstGeom prst="rect">
            <a:avLst/>
          </a:prstGeom>
          <a:solidFill>
            <a:srgbClr val="162A46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826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Service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5935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scoring · Keyword hints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834640" y="1577340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34440"/>
            <a:ext cx="2286000" cy="685800"/>
          </a:xfrm>
          <a:prstGeom prst="rect">
            <a:avLst/>
          </a:prstGeom>
          <a:solidFill>
            <a:srgbClr val="162A4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15819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llama3.2:3b · embeddings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834640" y="2583180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2240280"/>
            <a:ext cx="2286000" cy="685800"/>
          </a:xfrm>
          <a:prstGeom prst="rect">
            <a:avLst/>
          </a:prstGeom>
          <a:solidFill>
            <a:srgbClr val="162A46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2768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(Caché)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2587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· Vector DB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834640" y="3589020"/>
            <a:ext cx="502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3246120"/>
            <a:ext cx="2286000" cy="685800"/>
          </a:xfrm>
          <a:prstGeom prst="rect">
            <a:avLst/>
          </a:prstGeom>
          <a:solidFill>
            <a:srgbClr val="162A46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2826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37560" y="3593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· Fallback path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989320" y="1234440"/>
            <a:ext cx="2788920" cy="685800"/>
          </a:xfrm>
          <a:prstGeom prst="rect">
            <a:avLst/>
          </a:prstGeom>
          <a:solidFill>
            <a:srgbClr val="1A305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127101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89320" y="15819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· Policies · Ledger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989320" y="2240280"/>
            <a:ext cx="2788920" cy="685800"/>
          </a:xfrm>
          <a:prstGeom prst="rect">
            <a:avLst/>
          </a:prstGeom>
          <a:solidFill>
            <a:srgbClr val="1A305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227685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89320" y="258775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· Health endpoints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989320" y="3246120"/>
            <a:ext cx="2788920" cy="685800"/>
          </a:xfrm>
          <a:prstGeom prst="rect">
            <a:avLst/>
          </a:prstGeom>
          <a:solidFill>
            <a:srgbClr val="1A3055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328269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(UI)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89320" y="359359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Operator dashboard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3159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request: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→  Gateway (auth + policy)  →  Router  →  [Local | Caché | Premium | Fallback]  →  X-Nebula-* headers  →  Ledger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de SW y HW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0" y="6400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77640" cy="3913632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39136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978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371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37160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del gateway (FastAPI, async, Pydantic)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3566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739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177393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Next.js 15 (React 19, TypeScript)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" y="2103120"/>
            <a:ext cx="3566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762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217627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Containerización y deployment del stack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2505456"/>
            <a:ext cx="3566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578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25786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store: tenants, políticas, ledger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2907792"/>
            <a:ext cx="3566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298094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para caché semántica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6928" y="3310128"/>
            <a:ext cx="3566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3832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11680" y="338328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local (llama3.2:3b, embeddings)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6928" y="3712464"/>
            <a:ext cx="3566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7856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11680" y="378561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de schema (versionado)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" y="4114800"/>
            <a:ext cx="3566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1879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Client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418795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en /metrics para observabilidad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914400"/>
            <a:ext cx="3977640" cy="3913632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914400"/>
            <a:ext cx="54864" cy="3913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978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(gateway + console)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02352" y="1645920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CPU: 2 núcleos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02352" y="1874520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RAM: 4 GB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02352" y="2103120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Almacenamiento: 10 GB SSD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83480" y="2450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 (con inferencia local)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02352" y="2724912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CPU: 4+ núcleos (x86_64)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102352" y="2953512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RAM: 16 GB (8 GB para Ollama)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02352" y="3182112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GPU: NVIDIA 6+ GB VRAM (opcional)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102352" y="3410712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Almacenamiento: 40 GB SSD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83480" y="3758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/ Self-Hosted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02352" y="4032504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Docker Engine 24+ y Compose V2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02352" y="4261104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Ubuntu 22.04 (recomendado)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02352" y="4489704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Volúmenes persistentes para PG + Qdrant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su Tratamiento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0" y="6400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128016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978408"/>
            <a:ext cx="731520" cy="219456"/>
          </a:xfrm>
          <a:prstGeom prst="rect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9784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75488" y="978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respuestas locales inferior a premium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134416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Tratamiento: Fallback automático a premium cuando el modelo local falla o está inaccesible. El header X-Nebula-Fallback expone el evento para auditoría.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128016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14400"/>
            <a:ext cx="54864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978408"/>
            <a:ext cx="731520" cy="219456"/>
          </a:xfrm>
          <a:prstGeom prst="rect">
            <a:avLst/>
          </a:prstGeom>
          <a:solidFill>
            <a:srgbClr val="34D399">
              <a:alpha val="2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9784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73168" y="978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en caché semántica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134416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Tratamiento: Threshold de similitud configurable por tenant. Las decisiones quedan auditadas en el ledger de uso para revisión posterior.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65760" y="2322576"/>
            <a:ext cx="4114800" cy="128016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22576"/>
            <a:ext cx="54864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386584"/>
            <a:ext cx="731520" cy="219456"/>
          </a:xfrm>
          <a:prstGeom prst="rect">
            <a:avLst/>
          </a:prstGeom>
          <a:solidFill>
            <a:srgbClr val="34D399">
              <a:alpha val="2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3865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5488" y="23865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de deployment y mantenimiento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275234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Tratamiento: Stack completo en Docker Compose con un solo comando. Runbooks en docs/. Migraciones automáticas con Alembic en startup.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663440" y="2322576"/>
            <a:ext cx="4114800" cy="128016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322576"/>
            <a:ext cx="54864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2386584"/>
            <a:ext cx="731520" cy="219456"/>
          </a:xfrm>
          <a:prstGeom prst="rect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3865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73168" y="23865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providers externos (OpenAI, etc.)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275234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Tratamiento: Diseño multi-provider: cualquier endpoint OpenAI-compatible es válido. Fallback resilience testeado (14/14 escenarios aprobados).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365760" y="3730752"/>
            <a:ext cx="4114800" cy="128016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730752"/>
            <a:ext cx="54864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3794760"/>
            <a:ext cx="731520" cy="219456"/>
          </a:xfrm>
          <a:prstGeom prst="rect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37947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75488" y="37947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datos al plano de control hosteado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41605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Tratamiento: Contrato explícito: solo metadata. Excluye prompts, respuestas y credenciales. Schema publicado en docs/hosted-default-export.schema.json.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663440" y="3730752"/>
            <a:ext cx="4114800" cy="128016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730752"/>
            <a:ext cx="54864" cy="12801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55280" y="3794760"/>
            <a:ext cx="731520" cy="219456"/>
          </a:xfrm>
          <a:prstGeom prst="rect">
            <a:avLst/>
          </a:prstGeom>
          <a:solidFill>
            <a:srgbClr val="93C5FD">
              <a:alpha val="28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37947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73168" y="37947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adicional por routing y caché lookup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73168" y="41605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Tratamiento: Cache hits logran ~27ms. Overhead de routing es sub-milisegundo. Benchmark documenta latencia por escenario en artifacts/.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en Tiempos y Costos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0" y="6400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9601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" y="9601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/ Planes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70048" y="9601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29000" y="9601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96512" y="9601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01184" y="9601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307592"/>
            <a:ext cx="8412480" cy="420624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307592"/>
            <a:ext cx="54864" cy="42062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3350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52144" y="13350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1–5  ·  15 planes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688336" y="133502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Abr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447288" y="133502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Abr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114800" y="13350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semanas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919472" y="13350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caché semántica, políticas multi-tenant, console, benchmarks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65760" y="1764792"/>
            <a:ext cx="8412480" cy="420624"/>
          </a:xfrm>
          <a:prstGeom prst="rect">
            <a:avLst/>
          </a:prstGeom>
          <a:solidFill>
            <a:srgbClr val="1A30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764792"/>
            <a:ext cx="54864" cy="420624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17922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1152144" y="17922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6–10  ·  14 planes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2688336" y="179222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Abr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447288" y="179222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May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4114800" y="17922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semanas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919472" y="17922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Enrollment, heartbeat, hosted control plane, audit trail, remote management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65760" y="2221992"/>
            <a:ext cx="8412480" cy="420624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221992"/>
            <a:ext cx="54864" cy="42062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2494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152144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M001–M003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2688336" y="224942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May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3447288" y="224942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Jul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114800" y="22494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semanas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919472" y="22494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 embeddings, adoption docs, migration proof, observability improvements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365760" y="2834640"/>
            <a:ext cx="84124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834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COSTOS OPERACIONALES (escenario: ~30.000 requests/mes, 33% resueltos por routing local o caché semántica)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3218688"/>
            <a:ext cx="1993392" cy="146304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3218688"/>
            <a:ext cx="54864" cy="1463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" y="331012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~$200/mes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93776" y="3968496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premium evitado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 (30K req/mes)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487168" y="3218688"/>
            <a:ext cx="1993392" cy="146304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487168" y="3218688"/>
            <a:ext cx="54864" cy="14630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15184" y="331012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~$600/mes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2615184" y="3968496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premium total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Nebula (estimado)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08576" y="3218688"/>
            <a:ext cx="1993392" cy="146304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08576" y="3218688"/>
            <a:ext cx="54864" cy="1463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331012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736592" y="3968496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estimado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costos LLM premium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729984" y="3218688"/>
            <a:ext cx="1993392" cy="146304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729984" y="3218688"/>
            <a:ext cx="54864" cy="14630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331012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~27ms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6858000" y="3968496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promedio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semantic cache hit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Estimación basada en ~30.000 requests/mes a $0.02 promedio por request premium, con 33% de tráfico resuelto por routing local o caché semántica.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Comerciales del Producto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0" y="6400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118872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1188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969264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12064" y="164592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estimado en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premium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914400"/>
            <a:ext cx="2743200" cy="118872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914400"/>
            <a:ext cx="54864" cy="1188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969264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83864" y="164592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infraestructura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(Ollama)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914400"/>
            <a:ext cx="2743200" cy="1188720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914400"/>
            <a:ext cx="54864" cy="1188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969264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55664" y="164592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el código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cliente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267712"/>
            <a:ext cx="1993392" cy="2487168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267712"/>
            <a:ext cx="54864" cy="2487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3317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OpenAI API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" y="2651760"/>
            <a:ext cx="17922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sin cambios en el código cliente. Misma interfaz que GPT-4 / Claude. Adopción en minutos.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87168" y="2267712"/>
            <a:ext cx="1993392" cy="2487168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87168" y="2267712"/>
            <a:ext cx="54864" cy="248716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15184" y="23317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Auto-hosteado y Privado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15184" y="2651760"/>
            <a:ext cx="17922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vendor lock-in. Los prompts nunca salen de la infraestructura del operador. Cumple políticas de privacidad.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08576" y="2267712"/>
            <a:ext cx="1993392" cy="2487168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08576" y="2267712"/>
            <a:ext cx="54864" cy="2487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3317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Total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36592" y="2651760"/>
            <a:ext cx="17922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request auditado: modelo, ruta, costo, latencia. Ledger persistido. Observabilidad en tiempo real.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29984" y="2267712"/>
            <a:ext cx="1993392" cy="2487168"/>
          </a:xfrm>
          <a:prstGeom prst="rect">
            <a:avLst/>
          </a:prstGeom>
          <a:solidFill>
            <a:srgbClr val="162A4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9984" y="2267712"/>
            <a:ext cx="54864" cy="2487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3317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y Extensible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0" y="2651760"/>
            <a:ext cx="17922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desde el día 1. Políticas por tenant. Nuevos providers con cambios mínimos en providers/.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82896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Nebula.ai  ·  Habilitación Profesional A  ·  Ingeniería en Informática  ·  Universidad de Belgrano  ·  Joaquin Fernandez Gamboa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Nebula.ai — Gateway Semántico de IA</dc:title>
  <dc:subject>PptxGenJS Presentation</dc:subject>
  <dc:creator>Joaquin Fernandez Gamboa</dc:creator>
  <cp:lastModifiedBy>Joaquin Fernandez Gamboa</cp:lastModifiedBy>
  <cp:revision>1</cp:revision>
  <dcterms:created xsi:type="dcterms:W3CDTF">2026-05-13T00:08:10Z</dcterms:created>
  <dcterms:modified xsi:type="dcterms:W3CDTF">2026-05-13T00:08:10Z</dcterms:modified>
</cp:coreProperties>
</file>